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rata"/>
      <p:regular r:id="rId17"/>
    </p:embeddedFont>
    <p:embeddedFont>
      <p:font typeface="Prata"/>
      <p:regular r:id="rId18"/>
    </p:embeddedFont>
    <p:embeddedFont>
      <p:font typeface="Manrope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46899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Road Accident Dashboard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977283"/>
            <a:ext cx="44063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An End-to-End Power BI Project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4671774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Leveraging data analytics to transform road safety insights into actionable strategies for stakeholders across transportation and emergency services.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3063"/>
            <a:ext cx="100689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Project Overview &amp; Data Foundation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6881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Client Objective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620923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Develop a comprehensive Road Accident Dashboard analyzing 2021-2022 patterns to enable stakeholders to make informed, data-driven decisions that enhance road safety outcomes and reduce casualties nationwide.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29934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Strategic Goal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93790" y="4951452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Transform raw accident data into actionable intelligence that supports policy development, resource allocation, and targeted safety interventions.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1968817"/>
            <a:ext cx="365402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Dataset Specifications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599521" y="2762607"/>
            <a:ext cx="2980611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3.07M</a:t>
            </a:r>
            <a:endParaRPr lang="en-US" sz="5850" dirty="0"/>
          </a:p>
        </p:txBody>
      </p:sp>
      <p:sp>
        <p:nvSpPr>
          <p:cNvPr id="9" name="Text 7"/>
          <p:cNvSpPr/>
          <p:nvPr/>
        </p:nvSpPr>
        <p:spPr>
          <a:xfrm>
            <a:off x="7672149" y="37944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Total Records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9521" y="4375547"/>
            <a:ext cx="298061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Rows analyzed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863620" y="2762607"/>
            <a:ext cx="2980611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21</a:t>
            </a:r>
            <a:endParaRPr lang="en-US" sz="5850" dirty="0"/>
          </a:p>
        </p:txBody>
      </p:sp>
      <p:sp>
        <p:nvSpPr>
          <p:cNvPr id="12" name="Text 10"/>
          <p:cNvSpPr/>
          <p:nvPr/>
        </p:nvSpPr>
        <p:spPr>
          <a:xfrm>
            <a:off x="10936248" y="37944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Fields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863620" y="4375547"/>
            <a:ext cx="298061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Unique attributes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9231511" y="5305425"/>
            <a:ext cx="2980611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CSV</a:t>
            </a:r>
            <a:endParaRPr lang="en-US" sz="5850" dirty="0"/>
          </a:p>
        </p:txBody>
      </p:sp>
      <p:sp>
        <p:nvSpPr>
          <p:cNvPr id="15" name="Text 13"/>
          <p:cNvSpPr/>
          <p:nvPr/>
        </p:nvSpPr>
        <p:spPr>
          <a:xfrm>
            <a:off x="9304139" y="63372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File Format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231511" y="6918365"/>
            <a:ext cx="298061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Source type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06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60031" y="372189"/>
            <a:ext cx="3383756" cy="422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Key Stakeholders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5960031" y="998101"/>
            <a:ext cx="8196739" cy="433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comprehensive analysis serves multiple government agencies, emergency services, and public entities committed to improving road safety and reducing casualties.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960031" y="1583412"/>
            <a:ext cx="8196739" cy="1320998"/>
          </a:xfrm>
          <a:prstGeom prst="roundRect">
            <a:avLst>
              <a:gd name="adj" fmla="val 1537"/>
            </a:avLst>
          </a:prstGeom>
          <a:solidFill>
            <a:srgbClr val="404245"/>
          </a:solidFill>
          <a:ln/>
        </p:spPr>
      </p:sp>
      <p:sp>
        <p:nvSpPr>
          <p:cNvPr id="6" name="Shape 3"/>
          <p:cNvSpPr/>
          <p:nvPr/>
        </p:nvSpPr>
        <p:spPr>
          <a:xfrm>
            <a:off x="6095286" y="1718667"/>
            <a:ext cx="406003" cy="406003"/>
          </a:xfrm>
          <a:prstGeom prst="roundRect">
            <a:avLst>
              <a:gd name="adj" fmla="val 22519749"/>
            </a:avLst>
          </a:prstGeom>
          <a:solidFill>
            <a:srgbClr val="84482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966" y="1807488"/>
            <a:ext cx="182642" cy="2283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95286" y="2259925"/>
            <a:ext cx="1729978" cy="211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Ministry of Transport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095286" y="2552581"/>
            <a:ext cx="7926229" cy="216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Policy development and national strategy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960031" y="3039666"/>
            <a:ext cx="8196739" cy="1320998"/>
          </a:xfrm>
          <a:prstGeom prst="roundRect">
            <a:avLst>
              <a:gd name="adj" fmla="val 1537"/>
            </a:avLst>
          </a:prstGeom>
          <a:solidFill>
            <a:srgbClr val="404245"/>
          </a:solidFill>
          <a:ln/>
        </p:spPr>
      </p:sp>
      <p:sp>
        <p:nvSpPr>
          <p:cNvPr id="11" name="Shape 7"/>
          <p:cNvSpPr/>
          <p:nvPr/>
        </p:nvSpPr>
        <p:spPr>
          <a:xfrm>
            <a:off x="6095286" y="3174921"/>
            <a:ext cx="406003" cy="406003"/>
          </a:xfrm>
          <a:prstGeom prst="roundRect">
            <a:avLst>
              <a:gd name="adj" fmla="val 22519749"/>
            </a:avLst>
          </a:prstGeom>
          <a:solidFill>
            <a:srgbClr val="84482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966" y="3263741"/>
            <a:ext cx="182642" cy="2283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95286" y="3716179"/>
            <a:ext cx="1691878" cy="211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Police Force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095286" y="4008834"/>
            <a:ext cx="7926229" cy="216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Enforcement and incident response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960031" y="4495919"/>
            <a:ext cx="8196739" cy="1320998"/>
          </a:xfrm>
          <a:prstGeom prst="roundRect">
            <a:avLst>
              <a:gd name="adj" fmla="val 1537"/>
            </a:avLst>
          </a:prstGeom>
          <a:solidFill>
            <a:srgbClr val="404245"/>
          </a:solidFill>
          <a:ln/>
        </p:spPr>
      </p:sp>
      <p:sp>
        <p:nvSpPr>
          <p:cNvPr id="16" name="Shape 11"/>
          <p:cNvSpPr/>
          <p:nvPr/>
        </p:nvSpPr>
        <p:spPr>
          <a:xfrm>
            <a:off x="6095286" y="4631174"/>
            <a:ext cx="406003" cy="406003"/>
          </a:xfrm>
          <a:prstGeom prst="roundRect">
            <a:avLst>
              <a:gd name="adj" fmla="val 22519749"/>
            </a:avLst>
          </a:prstGeom>
          <a:solidFill>
            <a:srgbClr val="84482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6966" y="4719995"/>
            <a:ext cx="182642" cy="22836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95286" y="5172432"/>
            <a:ext cx="1691878" cy="211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Emergency Services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095286" y="5465088"/>
            <a:ext cx="7926229" cy="216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Medical response optimization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960031" y="5952172"/>
            <a:ext cx="8196739" cy="1320998"/>
          </a:xfrm>
          <a:prstGeom prst="roundRect">
            <a:avLst>
              <a:gd name="adj" fmla="val 1537"/>
            </a:avLst>
          </a:prstGeom>
          <a:solidFill>
            <a:srgbClr val="404245"/>
          </a:solidFill>
          <a:ln/>
        </p:spPr>
      </p:sp>
      <p:sp>
        <p:nvSpPr>
          <p:cNvPr id="21" name="Shape 15"/>
          <p:cNvSpPr/>
          <p:nvPr/>
        </p:nvSpPr>
        <p:spPr>
          <a:xfrm>
            <a:off x="6095286" y="6087428"/>
            <a:ext cx="406003" cy="406003"/>
          </a:xfrm>
          <a:prstGeom prst="roundRect">
            <a:avLst>
              <a:gd name="adj" fmla="val 22519749"/>
            </a:avLst>
          </a:prstGeom>
          <a:solidFill>
            <a:srgbClr val="84482D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6966" y="6176248"/>
            <a:ext cx="182642" cy="22836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095286" y="6628686"/>
            <a:ext cx="1691878" cy="211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Traffic Management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6095286" y="6921341"/>
            <a:ext cx="7926229" cy="216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Infrastructure planning and control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5960031" y="7425333"/>
            <a:ext cx="8196739" cy="433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Additional stakeholders include Road Transport Department, Road Safety Corps, Transport Operators, and the general public who benefit from improved safety measures.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2231" y="597932"/>
            <a:ext cx="7739539" cy="1253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Primary KPIs &amp; Analysis Requirements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702231" y="2152769"/>
            <a:ext cx="7739539" cy="1906548"/>
          </a:xfrm>
          <a:prstGeom prst="roundRect">
            <a:avLst>
              <a:gd name="adj" fmla="val 1579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25091" y="2175629"/>
            <a:ext cx="802600" cy="1860828"/>
          </a:xfrm>
          <a:prstGeom prst="roundRect">
            <a:avLst>
              <a:gd name="adj" fmla="val 332"/>
            </a:avLst>
          </a:prstGeom>
          <a:solidFill>
            <a:srgbClr val="404245"/>
          </a:solidFill>
          <a:ln/>
        </p:spPr>
      </p:sp>
      <p:sp>
        <p:nvSpPr>
          <p:cNvPr id="6" name="Text 3"/>
          <p:cNvSpPr/>
          <p:nvPr/>
        </p:nvSpPr>
        <p:spPr>
          <a:xfrm>
            <a:off x="975955" y="2917984"/>
            <a:ext cx="300871" cy="376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2350" dirty="0"/>
          </a:p>
        </p:txBody>
      </p:sp>
      <p:sp>
        <p:nvSpPr>
          <p:cNvPr id="7" name="Text 4"/>
          <p:cNvSpPr/>
          <p:nvPr/>
        </p:nvSpPr>
        <p:spPr>
          <a:xfrm>
            <a:off x="1728311" y="2376249"/>
            <a:ext cx="3009781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Casualty Metrics</a:t>
            </a:r>
            <a:endParaRPr lang="en-US" sz="2350" dirty="0"/>
          </a:p>
        </p:txBody>
      </p:sp>
      <p:sp>
        <p:nvSpPr>
          <p:cNvPr id="8" name="Text 5"/>
          <p:cNvSpPr/>
          <p:nvPr/>
        </p:nvSpPr>
        <p:spPr>
          <a:xfrm>
            <a:off x="1728311" y="2872859"/>
            <a:ext cx="6690598" cy="96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 casualties and total accidents for current year with year-over-year growth calculations to identify trends and measure improvement initiatives.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02231" y="4259937"/>
            <a:ext cx="7739539" cy="1585555"/>
          </a:xfrm>
          <a:prstGeom prst="roundRect">
            <a:avLst>
              <a:gd name="adj" fmla="val 1898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5091" y="4282797"/>
            <a:ext cx="802600" cy="1539835"/>
          </a:xfrm>
          <a:prstGeom prst="roundRect">
            <a:avLst>
              <a:gd name="adj" fmla="val 332"/>
            </a:avLst>
          </a:prstGeom>
          <a:solidFill>
            <a:srgbClr val="404245"/>
          </a:solidFill>
          <a:ln/>
        </p:spPr>
      </p:sp>
      <p:sp>
        <p:nvSpPr>
          <p:cNvPr id="11" name="Text 8"/>
          <p:cNvSpPr/>
          <p:nvPr/>
        </p:nvSpPr>
        <p:spPr>
          <a:xfrm>
            <a:off x="975955" y="4864656"/>
            <a:ext cx="300871" cy="376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2350" dirty="0"/>
          </a:p>
        </p:txBody>
      </p:sp>
      <p:sp>
        <p:nvSpPr>
          <p:cNvPr id="12" name="Text 9"/>
          <p:cNvSpPr/>
          <p:nvPr/>
        </p:nvSpPr>
        <p:spPr>
          <a:xfrm>
            <a:off x="1728311" y="4483418"/>
            <a:ext cx="3009781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Severity Analysis</a:t>
            </a:r>
            <a:endParaRPr lang="en-US" sz="2350" dirty="0"/>
          </a:p>
        </p:txBody>
      </p:sp>
      <p:sp>
        <p:nvSpPr>
          <p:cNvPr id="13" name="Text 10"/>
          <p:cNvSpPr/>
          <p:nvPr/>
        </p:nvSpPr>
        <p:spPr>
          <a:xfrm>
            <a:off x="1728311" y="4980027"/>
            <a:ext cx="6690598" cy="641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Breakdown of total casualties by accident severity (Fatal, Serious, Slight) for current year with YoY growth to prioritize intervention strategies.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702231" y="6046113"/>
            <a:ext cx="7739539" cy="1585555"/>
          </a:xfrm>
          <a:prstGeom prst="roundRect">
            <a:avLst>
              <a:gd name="adj" fmla="val 1898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25091" y="6068973"/>
            <a:ext cx="802600" cy="1539835"/>
          </a:xfrm>
          <a:prstGeom prst="roundRect">
            <a:avLst>
              <a:gd name="adj" fmla="val 332"/>
            </a:avLst>
          </a:prstGeom>
          <a:solidFill>
            <a:srgbClr val="404245"/>
          </a:solidFill>
          <a:ln/>
        </p:spPr>
      </p:sp>
      <p:sp>
        <p:nvSpPr>
          <p:cNvPr id="16" name="Text 13"/>
          <p:cNvSpPr/>
          <p:nvPr/>
        </p:nvSpPr>
        <p:spPr>
          <a:xfrm>
            <a:off x="975955" y="6650831"/>
            <a:ext cx="300871" cy="376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2350" dirty="0"/>
          </a:p>
        </p:txBody>
      </p:sp>
      <p:sp>
        <p:nvSpPr>
          <p:cNvPr id="17" name="Text 14"/>
          <p:cNvSpPr/>
          <p:nvPr/>
        </p:nvSpPr>
        <p:spPr>
          <a:xfrm>
            <a:off x="1728311" y="6269593"/>
            <a:ext cx="3009781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Vehicle Type Impact</a:t>
            </a:r>
            <a:endParaRPr lang="en-US" sz="2350" dirty="0"/>
          </a:p>
        </p:txBody>
      </p:sp>
      <p:sp>
        <p:nvSpPr>
          <p:cNvPr id="18" name="Text 15"/>
          <p:cNvSpPr/>
          <p:nvPr/>
        </p:nvSpPr>
        <p:spPr>
          <a:xfrm>
            <a:off x="1728311" y="6766203"/>
            <a:ext cx="6690598" cy="641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Distribution of casualties by vehicle type for current year to understand which vehicles pose greatest risk and require targeted safety measures.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4138" y="568881"/>
            <a:ext cx="7967662" cy="646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Secondary Analysis Dimensions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4138" y="1732478"/>
            <a:ext cx="3103483" cy="387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Temporal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24138" y="2327196"/>
            <a:ext cx="6338649" cy="66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Monthly casualty trends comparing current year versus previous year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4138" y="3061573"/>
            <a:ext cx="6338649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Day versus night accident patterns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4138" y="3464957"/>
            <a:ext cx="6338649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Seasonal variation identification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4138" y="4002762"/>
            <a:ext cx="3103483" cy="387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Geographic Insights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24138" y="4597479"/>
            <a:ext cx="6338649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 casualties and accidents by location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4138" y="5000863"/>
            <a:ext cx="6338649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Urban versus rural area distribution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4138" y="5404247"/>
            <a:ext cx="6338649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High-risk zone identification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5233" y="1758315"/>
            <a:ext cx="6338649" cy="433697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575233" y="6327934"/>
            <a:ext cx="3238143" cy="387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Infrastructure Impact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575233" y="6922651"/>
            <a:ext cx="6338649" cy="992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Casualties analyzed by road type to understand how infrastructure design influences accident severity and frequency, guiding future development priorities.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793" y="496014"/>
            <a:ext cx="7165777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End-to-End Project Methodology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303770" y="1419701"/>
            <a:ext cx="22860" cy="6313765"/>
          </a:xfrm>
          <a:prstGeom prst="roundRect">
            <a:avLst>
              <a:gd name="adj" fmla="val 118281"/>
            </a:avLst>
          </a:prstGeom>
          <a:solidFill>
            <a:srgbClr val="595B5E"/>
          </a:solidFill>
          <a:ln/>
        </p:spPr>
      </p:sp>
      <p:sp>
        <p:nvSpPr>
          <p:cNvPr id="4" name="Shape 2"/>
          <p:cNvSpPr/>
          <p:nvPr/>
        </p:nvSpPr>
        <p:spPr>
          <a:xfrm>
            <a:off x="6594634" y="1611035"/>
            <a:ext cx="540663" cy="22860"/>
          </a:xfrm>
          <a:prstGeom prst="roundRect">
            <a:avLst>
              <a:gd name="adj" fmla="val 118281"/>
            </a:avLst>
          </a:prstGeom>
          <a:solidFill>
            <a:srgbClr val="595B5E"/>
          </a:solidFill>
          <a:ln/>
        </p:spPr>
      </p:sp>
      <p:sp>
        <p:nvSpPr>
          <p:cNvPr id="5" name="Shape 3"/>
          <p:cNvSpPr/>
          <p:nvPr/>
        </p:nvSpPr>
        <p:spPr>
          <a:xfrm>
            <a:off x="7112437" y="1419701"/>
            <a:ext cx="405527" cy="405527"/>
          </a:xfrm>
          <a:prstGeom prst="roundRect">
            <a:avLst>
              <a:gd name="adj" fmla="val 6668"/>
            </a:avLst>
          </a:prstGeom>
          <a:solidFill>
            <a:srgbClr val="404245"/>
          </a:solidFill>
          <a:ln/>
        </p:spPr>
      </p:sp>
      <p:sp>
        <p:nvSpPr>
          <p:cNvPr id="6" name="Text 4"/>
          <p:cNvSpPr/>
          <p:nvPr/>
        </p:nvSpPr>
        <p:spPr>
          <a:xfrm>
            <a:off x="7180064" y="1453515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745468" y="1481614"/>
            <a:ext cx="2668548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Requirements Gathering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30793" y="1871305"/>
            <a:ext cx="5783223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Defining client needs, stakeholder expectations, and critical KPIs for comprehensive analysis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5103" y="2692360"/>
            <a:ext cx="540663" cy="22860"/>
          </a:xfrm>
          <a:prstGeom prst="roundRect">
            <a:avLst>
              <a:gd name="adj" fmla="val 118281"/>
            </a:avLst>
          </a:prstGeom>
          <a:solidFill>
            <a:srgbClr val="595B5E"/>
          </a:solidFill>
          <a:ln/>
        </p:spPr>
      </p:sp>
      <p:sp>
        <p:nvSpPr>
          <p:cNvPr id="10" name="Shape 8"/>
          <p:cNvSpPr/>
          <p:nvPr/>
        </p:nvSpPr>
        <p:spPr>
          <a:xfrm>
            <a:off x="7112437" y="2501027"/>
            <a:ext cx="405527" cy="405527"/>
          </a:xfrm>
          <a:prstGeom prst="roundRect">
            <a:avLst>
              <a:gd name="adj" fmla="val 6668"/>
            </a:avLst>
          </a:prstGeom>
          <a:solidFill>
            <a:srgbClr val="404245"/>
          </a:solidFill>
          <a:ln/>
        </p:spPr>
      </p:sp>
      <p:sp>
        <p:nvSpPr>
          <p:cNvPr id="11" name="Text 9"/>
          <p:cNvSpPr/>
          <p:nvPr/>
        </p:nvSpPr>
        <p:spPr>
          <a:xfrm>
            <a:off x="7180064" y="2534841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216384" y="2562939"/>
            <a:ext cx="2253139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Preparation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8216384" y="2952631"/>
            <a:ext cx="5783223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Raw data overview, database creation in MS SQL Server, and data import procedures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94634" y="3624501"/>
            <a:ext cx="540663" cy="22860"/>
          </a:xfrm>
          <a:prstGeom prst="roundRect">
            <a:avLst>
              <a:gd name="adj" fmla="val 118281"/>
            </a:avLst>
          </a:prstGeom>
          <a:solidFill>
            <a:srgbClr val="595B5E"/>
          </a:solidFill>
          <a:ln/>
        </p:spPr>
      </p:sp>
      <p:sp>
        <p:nvSpPr>
          <p:cNvPr id="15" name="Shape 13"/>
          <p:cNvSpPr/>
          <p:nvPr/>
        </p:nvSpPr>
        <p:spPr>
          <a:xfrm>
            <a:off x="7112437" y="3433167"/>
            <a:ext cx="405527" cy="405527"/>
          </a:xfrm>
          <a:prstGeom prst="roundRect">
            <a:avLst>
              <a:gd name="adj" fmla="val 6668"/>
            </a:avLst>
          </a:prstGeom>
          <a:solidFill>
            <a:srgbClr val="404245"/>
          </a:solidFill>
          <a:ln/>
        </p:spPr>
      </p:sp>
      <p:sp>
        <p:nvSpPr>
          <p:cNvPr id="16" name="Text 14"/>
          <p:cNvSpPr/>
          <p:nvPr/>
        </p:nvSpPr>
        <p:spPr>
          <a:xfrm>
            <a:off x="7180064" y="3466981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160877" y="3495080"/>
            <a:ext cx="2253139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Power BI Integration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630793" y="3884771"/>
            <a:ext cx="5783223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Connecting data sources and establishing robust data pipelines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95103" y="4556641"/>
            <a:ext cx="540663" cy="22860"/>
          </a:xfrm>
          <a:prstGeom prst="roundRect">
            <a:avLst>
              <a:gd name="adj" fmla="val 118281"/>
            </a:avLst>
          </a:prstGeom>
          <a:solidFill>
            <a:srgbClr val="595B5E"/>
          </a:solidFill>
          <a:ln/>
        </p:spPr>
      </p:sp>
      <p:sp>
        <p:nvSpPr>
          <p:cNvPr id="20" name="Shape 18"/>
          <p:cNvSpPr/>
          <p:nvPr/>
        </p:nvSpPr>
        <p:spPr>
          <a:xfrm>
            <a:off x="7112437" y="4365308"/>
            <a:ext cx="405527" cy="405527"/>
          </a:xfrm>
          <a:prstGeom prst="roundRect">
            <a:avLst>
              <a:gd name="adj" fmla="val 6668"/>
            </a:avLst>
          </a:prstGeom>
          <a:solidFill>
            <a:srgbClr val="404245"/>
          </a:solidFill>
          <a:ln/>
        </p:spPr>
      </p:sp>
      <p:sp>
        <p:nvSpPr>
          <p:cNvPr id="21" name="Text 19"/>
          <p:cNvSpPr/>
          <p:nvPr/>
        </p:nvSpPr>
        <p:spPr>
          <a:xfrm>
            <a:off x="7180064" y="4399121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216384" y="4427220"/>
            <a:ext cx="2253139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Processing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8216384" y="4816912"/>
            <a:ext cx="5783223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Cleaning, transforming, and modeling data with optimized relationships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94634" y="5488781"/>
            <a:ext cx="540663" cy="22860"/>
          </a:xfrm>
          <a:prstGeom prst="roundRect">
            <a:avLst>
              <a:gd name="adj" fmla="val 118281"/>
            </a:avLst>
          </a:prstGeom>
          <a:solidFill>
            <a:srgbClr val="595B5E"/>
          </a:solidFill>
          <a:ln/>
        </p:spPr>
      </p:sp>
      <p:sp>
        <p:nvSpPr>
          <p:cNvPr id="25" name="Shape 23"/>
          <p:cNvSpPr/>
          <p:nvPr/>
        </p:nvSpPr>
        <p:spPr>
          <a:xfrm>
            <a:off x="7112437" y="5297448"/>
            <a:ext cx="405527" cy="405527"/>
          </a:xfrm>
          <a:prstGeom prst="roundRect">
            <a:avLst>
              <a:gd name="adj" fmla="val 6668"/>
            </a:avLst>
          </a:prstGeom>
          <a:solidFill>
            <a:srgbClr val="404245"/>
          </a:solidFill>
          <a:ln/>
        </p:spPr>
      </p:sp>
      <p:sp>
        <p:nvSpPr>
          <p:cNvPr id="26" name="Text 24"/>
          <p:cNvSpPr/>
          <p:nvPr/>
        </p:nvSpPr>
        <p:spPr>
          <a:xfrm>
            <a:off x="7180064" y="5331262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5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4160877" y="5359360"/>
            <a:ext cx="2253139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Visualization Design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630793" y="5749052"/>
            <a:ext cx="5783223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Background design, chart creation, and interactive dashboard assembly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95103" y="6420922"/>
            <a:ext cx="540663" cy="22860"/>
          </a:xfrm>
          <a:prstGeom prst="roundRect">
            <a:avLst>
              <a:gd name="adj" fmla="val 118281"/>
            </a:avLst>
          </a:prstGeom>
          <a:solidFill>
            <a:srgbClr val="595B5E"/>
          </a:solidFill>
          <a:ln/>
        </p:spPr>
      </p:sp>
      <p:sp>
        <p:nvSpPr>
          <p:cNvPr id="30" name="Shape 28"/>
          <p:cNvSpPr/>
          <p:nvPr/>
        </p:nvSpPr>
        <p:spPr>
          <a:xfrm>
            <a:off x="7112437" y="6229588"/>
            <a:ext cx="405527" cy="405527"/>
          </a:xfrm>
          <a:prstGeom prst="roundRect">
            <a:avLst>
              <a:gd name="adj" fmla="val 6668"/>
            </a:avLst>
          </a:prstGeom>
          <a:solidFill>
            <a:srgbClr val="404245"/>
          </a:solidFill>
          <a:ln/>
        </p:spPr>
      </p:sp>
      <p:sp>
        <p:nvSpPr>
          <p:cNvPr id="31" name="Text 29"/>
          <p:cNvSpPr/>
          <p:nvPr/>
        </p:nvSpPr>
        <p:spPr>
          <a:xfrm>
            <a:off x="7180064" y="6263402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6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8216384" y="6291501"/>
            <a:ext cx="2253139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Insights Generation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8216384" y="6681192"/>
            <a:ext cx="5783223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Interpreting results, validating findings, and delivering actionable recommendations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136" y="557213"/>
            <a:ext cx="9855875" cy="633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Infrastructure &amp; Quality Assurance</a:t>
            </a:r>
            <a:endParaRPr lang="en-US" sz="3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136" y="1595557"/>
            <a:ext cx="1013103" cy="1215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4764" y="1798082"/>
            <a:ext cx="26877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Raw Data Exploration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924764" y="2236113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Initial dataset walkthrough identifying structure, quality, and anomalies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36" y="2811304"/>
            <a:ext cx="1013103" cy="12157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24764" y="3013829"/>
            <a:ext cx="2690336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MS SQL Server Setup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1924764" y="3451860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Database creation and structured environment configuration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36" y="4027051"/>
            <a:ext cx="1013103" cy="1215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24764" y="4229576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Import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924764" y="4667607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Loading 3.07M records into production database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36" y="5242798"/>
            <a:ext cx="1013103" cy="12157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24764" y="5445323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SQL Queries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1924764" y="5883354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Extracting and transforming data to meet analytical requirements</a:t>
            </a:r>
            <a:endParaRPr lang="en-US" sz="15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36" y="6458545"/>
            <a:ext cx="1013103" cy="12157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24764" y="6661071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Validation Testing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1924764" y="7099102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Creating test documents ensuring accuracy and reliability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6395" y="818078"/>
            <a:ext cx="7771209" cy="1225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Power BI Technical Capabilities Deployed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86395" y="2534007"/>
            <a:ext cx="2243971" cy="73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Foundation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686395" y="3465433"/>
            <a:ext cx="2243971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Seamless raw data connectivity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86395" y="4161472"/>
            <a:ext cx="2243971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Power Query data cleaning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6395" y="4857512"/>
            <a:ext cx="2243971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Advanced data processing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6395" y="5553551"/>
            <a:ext cx="2243971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Calendar date table creation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416379" y="2534007"/>
            <a:ext cx="2243971" cy="73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Advanced Analytics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3416379" y="3465433"/>
            <a:ext cx="2243971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Time intelligence functions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416379" y="4161472"/>
            <a:ext cx="2243971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YTD and YoY calculations (DAX)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416379" y="4857512"/>
            <a:ext cx="2243971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 measures and columns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416379" y="5553551"/>
            <a:ext cx="2243971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Robust data modeling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146363" y="2534007"/>
            <a:ext cx="2326362" cy="73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Visualization Excellence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6146363" y="3465433"/>
            <a:ext cx="2326362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KPI and advanced KPI design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146363" y="4161472"/>
            <a:ext cx="2326362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Diverse chart creation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146363" y="4543782"/>
            <a:ext cx="2326362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Image integration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146363" y="4926092"/>
            <a:ext cx="2326362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Interactive report building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86395" y="6470213"/>
            <a:ext cx="7771209" cy="941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These comprehensive Power BI functionalities enable sophisticated analysis, transforming complex datasets into intuitive, actionable dashboards that stakeholders can leverage for strategic decision-making.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7937" y="501848"/>
            <a:ext cx="7225784" cy="569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Dashboard Performance Metrics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637937" y="1526858"/>
            <a:ext cx="4299585" cy="601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700"/>
              </a:lnSpc>
              <a:buNone/>
            </a:pPr>
            <a:r>
              <a:rPr lang="en-US" sz="47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417K</a:t>
            </a:r>
            <a:endParaRPr lang="en-US" sz="4700" dirty="0"/>
          </a:p>
        </p:txBody>
      </p:sp>
      <p:sp>
        <p:nvSpPr>
          <p:cNvPr id="4" name="Text 2"/>
          <p:cNvSpPr/>
          <p:nvPr/>
        </p:nvSpPr>
        <p:spPr>
          <a:xfrm>
            <a:off x="1648539" y="2356009"/>
            <a:ext cx="2278380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Total Casualties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37937" y="2750106"/>
            <a:ext cx="4299585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Combined 2021-2022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165288" y="1526858"/>
            <a:ext cx="4299704" cy="601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700"/>
              </a:lnSpc>
              <a:buNone/>
            </a:pPr>
            <a:r>
              <a:rPr lang="en-US" sz="47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333K</a:t>
            </a:r>
            <a:endParaRPr lang="en-US" sz="4700" dirty="0"/>
          </a:p>
        </p:txBody>
      </p:sp>
      <p:sp>
        <p:nvSpPr>
          <p:cNvPr id="7" name="Text 5"/>
          <p:cNvSpPr/>
          <p:nvPr/>
        </p:nvSpPr>
        <p:spPr>
          <a:xfrm>
            <a:off x="6175891" y="2356009"/>
            <a:ext cx="2278380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Car Casualties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165288" y="2750106"/>
            <a:ext cx="4299704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79.8% of total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92759" y="1526858"/>
            <a:ext cx="4299704" cy="601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700"/>
              </a:lnSpc>
              <a:buNone/>
            </a:pPr>
            <a:r>
              <a:rPr lang="en-US" sz="47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7,135</a:t>
            </a:r>
            <a:endParaRPr lang="en-US" sz="4700" dirty="0"/>
          </a:p>
        </p:txBody>
      </p:sp>
      <p:sp>
        <p:nvSpPr>
          <p:cNvPr id="10" name="Text 8"/>
          <p:cNvSpPr/>
          <p:nvPr/>
        </p:nvSpPr>
        <p:spPr>
          <a:xfrm>
            <a:off x="10703362" y="2356009"/>
            <a:ext cx="2278380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Fatal Cases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92759" y="2750106"/>
            <a:ext cx="4299704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1.7% severity rate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66637" y="4431268"/>
            <a:ext cx="2241828" cy="455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35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84.1%</a:t>
            </a:r>
            <a:endParaRPr lang="en-US" sz="35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0654" y="3292197"/>
            <a:ext cx="2734032" cy="273403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648539" y="6253877"/>
            <a:ext cx="2278380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Slight Casualties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637937" y="6647974"/>
            <a:ext cx="4299585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351,436 incidents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194108" y="4431268"/>
            <a:ext cx="2241828" cy="455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35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14.2%</a:t>
            </a:r>
            <a:endParaRPr lang="en-US" sz="35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124" y="3292197"/>
            <a:ext cx="2734032" cy="2734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175891" y="6253877"/>
            <a:ext cx="2278380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Serious Casualties</a:t>
            </a:r>
            <a:endParaRPr lang="en-US" sz="1750" dirty="0"/>
          </a:p>
        </p:txBody>
      </p:sp>
      <p:sp>
        <p:nvSpPr>
          <p:cNvPr id="19" name="Text 15"/>
          <p:cNvSpPr/>
          <p:nvPr/>
        </p:nvSpPr>
        <p:spPr>
          <a:xfrm>
            <a:off x="5165288" y="6647974"/>
            <a:ext cx="4299704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59,312 incidents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0721578" y="4431268"/>
            <a:ext cx="2241828" cy="455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35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1.7%</a:t>
            </a:r>
            <a:endParaRPr lang="en-US" sz="35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5595" y="3292197"/>
            <a:ext cx="2734032" cy="2734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703362" y="6253877"/>
            <a:ext cx="2278380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Fatal Casualties</a:t>
            </a:r>
            <a:endParaRPr lang="en-US" sz="1750" dirty="0"/>
          </a:p>
        </p:txBody>
      </p:sp>
      <p:sp>
        <p:nvSpPr>
          <p:cNvPr id="23" name="Text 18"/>
          <p:cNvSpPr/>
          <p:nvPr/>
        </p:nvSpPr>
        <p:spPr>
          <a:xfrm>
            <a:off x="9692759" y="6647974"/>
            <a:ext cx="4299704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7,135 incidents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37937" y="7144583"/>
            <a:ext cx="13354526" cy="583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dashboard provides real-time filtering by vehicle type, road conditions, geographic location, and temporal patterns, enabling stakeholders to drill down into specific areas of concern and identify high-priority intervention opportunities.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21" y="339209"/>
            <a:ext cx="5649158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Impact &amp; Strategic Recommendations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1721" y="1033105"/>
            <a:ext cx="1925479" cy="231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Project Achievements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31721" y="1387673"/>
            <a:ext cx="6732984" cy="591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Successfully delivered a comprehensive, interactive platform that transforms 3.07 million data points into actionable intelligence. The dashboard empowers stakeholders across government agencies and emergency services to identify patterns, allocate resources strategically, and implement evidence-based safety interventions.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31721" y="2102882"/>
            <a:ext cx="1850708" cy="231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Measurable Impact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1721" y="2457450"/>
            <a:ext cx="6732984" cy="197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Identified high-risk road types and locations for targeted enforcement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31721" y="2697837"/>
            <a:ext cx="6732984" cy="197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Revealed vehicle-specific casualty patterns informing safety campaigns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31721" y="2938224"/>
            <a:ext cx="6732984" cy="197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Established temporal trends enabling proactive resource deployment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1721" y="3178612"/>
            <a:ext cx="6732984" cy="197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Created foundation for data-driven policy development</a:t>
            </a:r>
            <a:endParaRPr lang="en-US" sz="9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3315" y="1048464"/>
            <a:ext cx="6732984" cy="460676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73315" y="5793938"/>
            <a:ext cx="1988701" cy="231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Future Enhancements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473315" y="6163866"/>
            <a:ext cx="123349" cy="154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01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473315" y="6358295"/>
            <a:ext cx="6732984" cy="1524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14" name="Text 11"/>
          <p:cNvSpPr/>
          <p:nvPr/>
        </p:nvSpPr>
        <p:spPr>
          <a:xfrm>
            <a:off x="7473315" y="6450449"/>
            <a:ext cx="1614845" cy="192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Real-Time Integration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473315" y="6766441"/>
            <a:ext cx="6732984" cy="197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traffic data feeds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473315" y="7179588"/>
            <a:ext cx="123349" cy="154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02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473315" y="7374017"/>
            <a:ext cx="6732984" cy="1524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18" name="Text 15"/>
          <p:cNvSpPr/>
          <p:nvPr/>
        </p:nvSpPr>
        <p:spPr>
          <a:xfrm>
            <a:off x="7473315" y="7466171"/>
            <a:ext cx="1542217" cy="192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Predictive Analytics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473315" y="7782163"/>
            <a:ext cx="6732984" cy="197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AI-powered hotspot forecasting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473315" y="8195310"/>
            <a:ext cx="123349" cy="154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03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473315" y="8389739"/>
            <a:ext cx="6732984" cy="1524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22" name="Text 19"/>
          <p:cNvSpPr/>
          <p:nvPr/>
        </p:nvSpPr>
        <p:spPr>
          <a:xfrm>
            <a:off x="7473315" y="8481893"/>
            <a:ext cx="1548765" cy="192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Historical Expansion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473315" y="8797885"/>
            <a:ext cx="6732984" cy="197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Multi-year trend analysis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2025-10-11T10:34:02Z</dcterms:created>
  <dcterms:modified xsi:type="dcterms:W3CDTF">2025-10-11T10:34:02Z</dcterms:modified>
</cp:coreProperties>
</file>